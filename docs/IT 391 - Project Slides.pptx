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3" r:id="rId1"/>
  </p:sldMasterIdLst>
  <p:sldIdLst>
    <p:sldId id="256" r:id="rId2"/>
    <p:sldId id="257" r:id="rId3"/>
    <p:sldId id="258" r:id="rId4"/>
    <p:sldId id="259" r:id="rId5"/>
    <p:sldId id="260" r:id="rId6"/>
    <p:sldId id="266" r:id="rId7"/>
    <p:sldId id="267" r:id="rId8"/>
    <p:sldId id="268" r:id="rId9"/>
    <p:sldId id="262" r:id="rId10"/>
    <p:sldId id="270" r:id="rId11"/>
    <p:sldId id="263" r:id="rId12"/>
    <p:sldId id="264" r:id="rId13"/>
    <p:sldId id="265"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EB3AE6-481D-0F7E-43C3-C03C406EFAE8}" v="3" dt="2026-04-30T21:41:02.561"/>
    <p1510:client id="{5C6E4502-F44B-C180-85DD-70E839431472}" v="16" dt="2026-04-30T21:42:09.723"/>
    <p1510:client id="{CCE8006B-D871-6C88-F131-12FC15178E78}" v="336" dt="2026-04-30T21:37:37.503"/>
    <p1510:client id="{CF245507-F639-7A98-3488-3835D15B1FA0}" v="32" dt="2026-04-30T21:28:34.444"/>
    <p1510:client id="{E602BB29-F181-45D1-9E4A-828732E01874}" v="24" dt="2026-04-30T21:42:57.6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D430AE-0210-4E82-AD7B-41B112DE7F7D}"/>
              </a:ext>
            </a:extLst>
          </p:cNvPr>
          <p:cNvSpPr>
            <a:spLocks noGrp="1"/>
          </p:cNvSpPr>
          <p:nvPr>
            <p:ph type="dt" sz="half" idx="10"/>
          </p:nvPr>
        </p:nvSpPr>
        <p:spPr/>
        <p:txBody>
          <a:bodyPr/>
          <a:lstStyle>
            <a:lvl1pPr>
              <a:defRPr>
                <a:solidFill>
                  <a:schemeClr val="tx1">
                    <a:alpha val="60000"/>
                  </a:schemeClr>
                </a:solidFill>
                <a:latin typeface="+mn-lt"/>
              </a:defRPr>
            </a:lvl1pPr>
          </a:lstStyle>
          <a:p>
            <a:fld id="{11A6662E-FAF4-44BC-88B5-85A7CBFB6D30}" type="datetime1">
              <a:rPr lang="en-US" smtClean="0"/>
              <a:pPr/>
              <a:t>5/4/2026</a:t>
            </a:fld>
            <a:endParaRPr lang="en-US"/>
          </a:p>
        </p:txBody>
      </p:sp>
      <p:sp>
        <p:nvSpPr>
          <p:cNvPr id="5" name="Footer Placeholder 4">
            <a:extLst>
              <a:ext uri="{FF2B5EF4-FFF2-40B4-BE49-F238E27FC236}">
                <a16:creationId xmlns:a16="http://schemas.microsoft.com/office/drawing/2014/main" id="{0F221974-7DEC-459D-9642-CB5B59C82771}"/>
              </a:ext>
            </a:extLst>
          </p:cNvPr>
          <p:cNvSpPr>
            <a:spLocks noGrp="1"/>
          </p:cNvSpPr>
          <p:nvPr>
            <p:ph type="ftr" sz="quarter" idx="11"/>
          </p:nvPr>
        </p:nvSpPr>
        <p:spPr/>
        <p:txBody>
          <a:bodyPr/>
          <a:lstStyle>
            <a:lvl1pPr>
              <a:defRPr>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60731837-C94E-4B5B-BCF0-110C69EDB41C}"/>
              </a:ext>
            </a:extLst>
          </p:cNvPr>
          <p:cNvSpPr>
            <a:spLocks noGrp="1"/>
          </p:cNvSpPr>
          <p:nvPr>
            <p:ph type="sldNum" sz="quarter" idx="12"/>
          </p:nvPr>
        </p:nvSpPr>
        <p:spPr/>
        <p:txBody>
          <a:bodyPr/>
          <a:lstStyle>
            <a:lvl1pPr>
              <a:defRPr>
                <a:solidFill>
                  <a:schemeClr val="tx1">
                    <a:alpha val="60000"/>
                  </a:schemeClr>
                </a:solidFill>
                <a:latin typeface="+mn-lt"/>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3351813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fld id="{0055F08A-1E71-4B2B-BB49-E743F2903911}" type="datetime1">
              <a:rPr lang="en-US" smtClean="0"/>
              <a:t>5/4/2026</a:t>
            </a:fld>
            <a:endParaRPr lang="en-US"/>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283357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02990E-9F0A-446A-B5B8-459CA8D98D92}"/>
              </a:ext>
            </a:extLst>
          </p:cNvPr>
          <p:cNvSpPr>
            <a:spLocks noGrp="1"/>
          </p:cNvSpPr>
          <p:nvPr>
            <p:ph type="dt" sz="half" idx="10"/>
          </p:nvPr>
        </p:nvSpPr>
        <p:spPr/>
        <p:txBody>
          <a:bodyPr/>
          <a:lstStyle/>
          <a:p>
            <a:fld id="{15417D9E-721A-44BB-8863-9873FE64DA75}" type="datetime1">
              <a:rPr lang="en-US" smtClean="0"/>
              <a:t>5/4/2026</a:t>
            </a:fld>
            <a:endParaRPr lang="en-US"/>
          </a:p>
        </p:txBody>
      </p:sp>
      <p:sp>
        <p:nvSpPr>
          <p:cNvPr id="5" name="Footer Placeholder 4">
            <a:extLst>
              <a:ext uri="{FF2B5EF4-FFF2-40B4-BE49-F238E27FC236}">
                <a16:creationId xmlns:a16="http://schemas.microsoft.com/office/drawing/2014/main" id="{89E68EAA-4377-45FF-9D7C-9E77BC9F2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07FA71-74C3-44B8-A0AC-E18A1E76B43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487746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fld id="{5F31DA2F-80B8-49CF-99FB-5ABCA53A607A}" type="datetime1">
              <a:rPr lang="en-US" smtClean="0"/>
              <a:t>5/4/2026</a:t>
            </a:fld>
            <a:endParaRPr lang="en-US"/>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7447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fld id="{28852172-E6C9-4B6C-929A-A9DE3837BBF1}" type="datetime1">
              <a:rPr lang="en-US" smtClean="0"/>
              <a:t>5/4/2026</a:t>
            </a:fld>
            <a:endParaRPr lang="en-US"/>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925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792D5F-0BD4-4517-9233-E08AF405B6DE}"/>
              </a:ext>
            </a:extLst>
          </p:cNvPr>
          <p:cNvSpPr>
            <a:spLocks noGrp="1"/>
          </p:cNvSpPr>
          <p:nvPr>
            <p:ph type="title"/>
          </p:nvPr>
        </p:nvSpPr>
        <p:spPr>
          <a:xfrm>
            <a:off x="458694" y="365760"/>
            <a:ext cx="11274612"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B83523B8-51E3-48B8-BFD8-CE950619804E}"/>
              </a:ext>
            </a:extLst>
          </p:cNvPr>
          <p:cNvSpPr>
            <a:spLocks noGrp="1"/>
          </p:cNvSpPr>
          <p:nvPr>
            <p:ph type="dt" sz="half" idx="10"/>
          </p:nvPr>
        </p:nvSpPr>
        <p:spPr>
          <a:xfrm>
            <a:off x="458693" y="6416675"/>
            <a:ext cx="2921715" cy="365125"/>
          </a:xfrm>
        </p:spPr>
        <p:txBody>
          <a:bodyPr/>
          <a:lstStyle/>
          <a:p>
            <a:fld id="{3AB41CFF-90C9-47B3-9DA1-F2BF8D839F7E}" type="datetime1">
              <a:rPr lang="en-US" smtClean="0"/>
              <a:t>5/4/2026</a:t>
            </a:fld>
            <a:endParaRPr lang="en-US"/>
          </a:p>
        </p:txBody>
      </p:sp>
      <p:sp>
        <p:nvSpPr>
          <p:cNvPr id="4" name="Footer Placeholder 3">
            <a:extLst>
              <a:ext uri="{FF2B5EF4-FFF2-40B4-BE49-F238E27FC236}">
                <a16:creationId xmlns:a16="http://schemas.microsoft.com/office/drawing/2014/main" id="{7D739B90-5D50-4424-B51D-53C3916218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6F9286-3A00-4D3C-A3F0-50AC9045C4E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69610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fld id="{F06048FA-06AB-4884-A69B-986B96E68A24}" type="datetime1">
              <a:rPr lang="en-US" smtClean="0"/>
              <a:t>5/4/2026</a:t>
            </a:fld>
            <a:endParaRPr lang="en-US"/>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736229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fld id="{50DB7ABA-0172-4F9C-889D-567164F66BCD}" type="datetime1">
              <a:rPr lang="en-US" smtClean="0"/>
              <a:t>5/4/2026</a:t>
            </a:fld>
            <a:endParaRPr lang="en-US"/>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1777048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fld id="{78AC6A5B-8AE7-4A41-B5A7-9ADC6686DC18}" type="datetime1">
              <a:rPr lang="en-US" smtClean="0"/>
              <a:t>5/4/2026</a:t>
            </a:fld>
            <a:endParaRPr lang="en-US"/>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6629857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ABDD2-E186-4F25-8FDE-D1E875E9C30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318CC5B-A7E0-48B1-8329-6533AC76E7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905B1B-77FE-4BFC-BF87-87DA989F0082}"/>
              </a:ext>
            </a:extLst>
          </p:cNvPr>
          <p:cNvSpPr>
            <a:spLocks noGrp="1"/>
          </p:cNvSpPr>
          <p:nvPr>
            <p:ph type="dt" sz="half" idx="10"/>
          </p:nvPr>
        </p:nvSpPr>
        <p:spPr/>
        <p:txBody>
          <a:bodyPr/>
          <a:lstStyle/>
          <a:p>
            <a:fld id="{4C559632-1575-4E14-B53B-3DC3D5ED3947}" type="datetime1">
              <a:rPr lang="en-US" smtClean="0"/>
              <a:t>5/4/2026</a:t>
            </a:fld>
            <a:endParaRPr lang="en-US"/>
          </a:p>
        </p:txBody>
      </p:sp>
      <p:sp>
        <p:nvSpPr>
          <p:cNvPr id="5" name="Footer Placeholder 4">
            <a:extLst>
              <a:ext uri="{FF2B5EF4-FFF2-40B4-BE49-F238E27FC236}">
                <a16:creationId xmlns:a16="http://schemas.microsoft.com/office/drawing/2014/main" id="{3118531E-1B90-4631-BD37-4BB1DBFAB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8A55E8-88DC-4280-8E04-FF50FF8EDB5A}"/>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482847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60633D-90E4-4F5A-9EBF-DDEC2B0B47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DDD3065-FA3D-42C8-BFDA-967C87F4F2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DC126F-38E2-4425-861F-98ED432284BA}"/>
              </a:ext>
            </a:extLst>
          </p:cNvPr>
          <p:cNvSpPr>
            <a:spLocks noGrp="1"/>
          </p:cNvSpPr>
          <p:nvPr>
            <p:ph type="dt" sz="half" idx="10"/>
          </p:nvPr>
        </p:nvSpPr>
        <p:spPr/>
        <p:txBody>
          <a:bodyPr/>
          <a:lstStyle/>
          <a:p>
            <a:fld id="{CC4A6868-2568-4CC9-B302-F37117B01A6E}" type="datetime1">
              <a:rPr lang="en-US" smtClean="0"/>
              <a:t>5/4/2026</a:t>
            </a:fld>
            <a:endParaRPr lang="en-US"/>
          </a:p>
        </p:txBody>
      </p:sp>
      <p:sp>
        <p:nvSpPr>
          <p:cNvPr id="5" name="Footer Placeholder 4">
            <a:extLst>
              <a:ext uri="{FF2B5EF4-FFF2-40B4-BE49-F238E27FC236}">
                <a16:creationId xmlns:a16="http://schemas.microsoft.com/office/drawing/2014/main" id="{CA9645D8-F22A-4354-A8B3-96E8A2D232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9E2295-A616-4D57-8800-7B7E213A8CC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524291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fld id="{57E0CF6C-748E-4B7A-BC8B-3011EF78ED13}" type="datetime1">
              <a:rPr lang="en-US" smtClean="0"/>
              <a:pPr/>
              <a:t>5/4/2026</a:t>
            </a:fld>
            <a:endParaRPr lang="en-US"/>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endParaRPr lang="en-US">
              <a:solidFill>
                <a:schemeClr val="tx1">
                  <a:alpha val="60000"/>
                </a:schemeClr>
              </a:solidFill>
            </a:endParaRP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3">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290488240"/>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sldNum="0" hdr="0" ftr="0" dt="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youtu.be/PciO75NAhtA?si=CoKqmjYBIBLBz_px" TargetMode="External"/><Relationship Id="rId2" Type="http://schemas.openxmlformats.org/officeDocument/2006/relationships/hyperlink" Target="https://gamemaker.io/en/help/articles/setting-up-and-using-source-control" TargetMode="External"/><Relationship Id="rId1" Type="http://schemas.openxmlformats.org/officeDocument/2006/relationships/slideLayout" Target="../slideLayouts/slideLayout2.xml"/><Relationship Id="rId4" Type="http://schemas.openxmlformats.org/officeDocument/2006/relationships/hyperlink" Target="https://gamemaker.io/en/tutorials/how-to-make-an-rpg"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pic>
        <p:nvPicPr>
          <p:cNvPr id="11" name="Picture 10">
            <a:extLst>
              <a:ext uri="{FF2B5EF4-FFF2-40B4-BE49-F238E27FC236}">
                <a16:creationId xmlns:a16="http://schemas.microsoft.com/office/drawing/2014/main" id="{BC526B7A-4801-4FD1-95C8-03AF22629E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 useBgFill="1">
        <p:nvSpPr>
          <p:cNvPr id="13" name="Rectangle 12">
            <a:extLst>
              <a:ext uri="{FF2B5EF4-FFF2-40B4-BE49-F238E27FC236}">
                <a16:creationId xmlns:a16="http://schemas.microsoft.com/office/drawing/2014/main" id="{8651CFA9-6065-4243-AC48-858E35978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sp>
        <p:nvSpPr>
          <p:cNvPr id="15" name="Rectangle 14">
            <a:extLst>
              <a:ext uri="{FF2B5EF4-FFF2-40B4-BE49-F238E27FC236}">
                <a16:creationId xmlns:a16="http://schemas.microsoft.com/office/drawing/2014/main" id="{FBC8BBE5-981E-4B0B-9654-32B5668BF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latin typeface="AvenirNext LT Pro Medium" panose="020B0504020202020204" pitchFamily="34" charset="0"/>
            </a:endParaRPr>
          </a:p>
        </p:txBody>
      </p:sp>
      <p:grpSp>
        <p:nvGrpSpPr>
          <p:cNvPr id="17" name="Group 16">
            <a:extLst>
              <a:ext uri="{FF2B5EF4-FFF2-40B4-BE49-F238E27FC236}">
                <a16:creationId xmlns:a16="http://schemas.microsoft.com/office/drawing/2014/main" id="{8ED5E97A-D21B-4AA4-83CF-DA3A380E30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7724071" cy="6858000"/>
            <a:chOff x="4464881" y="0"/>
            <a:chExt cx="7724071" cy="6858000"/>
          </a:xfrm>
        </p:grpSpPr>
        <p:pic>
          <p:nvPicPr>
            <p:cNvPr id="18" name="Picture 17">
              <a:extLst>
                <a:ext uri="{FF2B5EF4-FFF2-40B4-BE49-F238E27FC236}">
                  <a16:creationId xmlns:a16="http://schemas.microsoft.com/office/drawing/2014/main" id="{8AF5706D-4464-450F-93F4-853EDF68CE4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19" name="Picture 18">
              <a:extLst>
                <a:ext uri="{FF2B5EF4-FFF2-40B4-BE49-F238E27FC236}">
                  <a16:creationId xmlns:a16="http://schemas.microsoft.com/office/drawing/2014/main" id="{3E0FB244-C158-43A9-AD7A-05DC5BBF6D33}"/>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4">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2" name="Title 1"/>
          <p:cNvSpPr>
            <a:spLocks noGrp="1"/>
          </p:cNvSpPr>
          <p:nvPr>
            <p:ph type="ctrTitle"/>
          </p:nvPr>
        </p:nvSpPr>
        <p:spPr>
          <a:xfrm>
            <a:off x="838200" y="586992"/>
            <a:ext cx="5638800" cy="2461008"/>
          </a:xfrm>
        </p:spPr>
        <p:txBody>
          <a:bodyPr vert="horz" lIns="91440" tIns="45720" rIns="91440" bIns="45720" rtlCol="0" anchor="ctr">
            <a:normAutofit/>
          </a:bodyPr>
          <a:lstStyle/>
          <a:p>
            <a:r>
              <a:rPr lang="en-US"/>
              <a:t>Sift/Shift</a:t>
            </a:r>
          </a:p>
        </p:txBody>
      </p:sp>
      <p:sp>
        <p:nvSpPr>
          <p:cNvPr id="3" name="Subtitle 2"/>
          <p:cNvSpPr>
            <a:spLocks noGrp="1"/>
          </p:cNvSpPr>
          <p:nvPr>
            <p:ph type="subTitle" idx="1"/>
          </p:nvPr>
        </p:nvSpPr>
        <p:spPr>
          <a:xfrm>
            <a:off x="838200" y="3124200"/>
            <a:ext cx="5638437" cy="3156166"/>
          </a:xfrm>
        </p:spPr>
        <p:txBody>
          <a:bodyPr vert="horz" lIns="91440" tIns="45720" rIns="91440" bIns="45720" rtlCol="0" anchor="ctr">
            <a:normAutofit/>
          </a:bodyPr>
          <a:lstStyle/>
          <a:p>
            <a:pPr>
              <a:lnSpc>
                <a:spcPct val="100000"/>
              </a:lnSpc>
            </a:pPr>
            <a:r>
              <a:rPr lang="en-US" sz="1700"/>
              <a:t>A retro-style factory game project contributed by:</a:t>
            </a:r>
            <a:endParaRPr lang="en-US"/>
          </a:p>
          <a:p>
            <a:pPr indent="-228600">
              <a:lnSpc>
                <a:spcPct val="100000"/>
              </a:lnSpc>
              <a:buFont typeface="Arial" panose="020B0604020202020204" pitchFamily="34" charset="0"/>
              <a:buChar char="•"/>
            </a:pPr>
            <a:r>
              <a:rPr lang="en-US" sz="1700"/>
              <a:t>Jacob Oswald</a:t>
            </a:r>
          </a:p>
          <a:p>
            <a:pPr indent="-228600">
              <a:lnSpc>
                <a:spcPct val="100000"/>
              </a:lnSpc>
              <a:buChar char="•"/>
            </a:pPr>
            <a:r>
              <a:rPr lang="en-US" sz="1700"/>
              <a:t>Ben Potter</a:t>
            </a:r>
          </a:p>
          <a:p>
            <a:pPr indent="-228600">
              <a:lnSpc>
                <a:spcPct val="100000"/>
              </a:lnSpc>
              <a:buChar char="•"/>
            </a:pPr>
            <a:r>
              <a:rPr lang="en-US" sz="1700"/>
              <a:t>Dillon Opperman</a:t>
            </a:r>
          </a:p>
          <a:p>
            <a:pPr indent="-228600">
              <a:lnSpc>
                <a:spcPct val="100000"/>
              </a:lnSpc>
              <a:buChar char="•"/>
            </a:pPr>
            <a:r>
              <a:rPr lang="en-US" sz="1700"/>
              <a:t>Josh Schmidt</a:t>
            </a:r>
          </a:p>
          <a:p>
            <a:pPr indent="-228600">
              <a:lnSpc>
                <a:spcPct val="100000"/>
              </a:lnSpc>
              <a:buChar char="•"/>
            </a:pPr>
            <a:r>
              <a:rPr lang="en-US" sz="1700"/>
              <a:t>Jake Beren</a:t>
            </a:r>
          </a:p>
          <a:p>
            <a:pPr indent="-228600">
              <a:lnSpc>
                <a:spcPct val="100000"/>
              </a:lnSpc>
              <a:buChar char="•"/>
            </a:pPr>
            <a:r>
              <a:rPr lang="en-US" sz="1700"/>
              <a:t>Kristian </a:t>
            </a:r>
            <a:r>
              <a:rPr lang="en-US" sz="1700" err="1"/>
              <a:t>Neilands</a:t>
            </a:r>
            <a:endParaRPr lang="en-US" sz="1700"/>
          </a:p>
          <a:p>
            <a:pPr indent="-228600" algn="l">
              <a:lnSpc>
                <a:spcPct val="100000"/>
              </a:lnSpc>
              <a:buChar char="•"/>
            </a:pPr>
            <a:endParaRPr lang="en-US" sz="1700"/>
          </a:p>
        </p:txBody>
      </p:sp>
      <p:pic>
        <p:nvPicPr>
          <p:cNvPr id="14" name="Picture 13">
            <a:extLst>
              <a:ext uri="{FF2B5EF4-FFF2-40B4-BE49-F238E27FC236}">
                <a16:creationId xmlns:a16="http://schemas.microsoft.com/office/drawing/2014/main" id="{5BF53F7C-C241-422B-671B-2EC04BA33992}"/>
              </a:ext>
            </a:extLst>
          </p:cNvPr>
          <p:cNvPicPr>
            <a:picLocks noChangeAspect="1"/>
          </p:cNvPicPr>
          <p:nvPr/>
        </p:nvPicPr>
        <p:blipFill>
          <a:blip r:embed="rId5"/>
          <a:srcRect l="13392" r="34796" b="-3"/>
          <a:stretch>
            <a:fillRect/>
          </a:stretch>
        </p:blipFill>
        <p:spPr>
          <a:xfrm>
            <a:off x="6861048" y="1"/>
            <a:ext cx="5330952" cy="685800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B493D-BD8E-7BA0-F3DD-F17DD470270A}"/>
              </a:ext>
            </a:extLst>
          </p:cNvPr>
          <p:cNvSpPr>
            <a:spLocks noGrp="1"/>
          </p:cNvSpPr>
          <p:nvPr>
            <p:ph type="title"/>
          </p:nvPr>
        </p:nvSpPr>
        <p:spPr/>
        <p:txBody>
          <a:bodyPr/>
          <a:lstStyle/>
          <a:p>
            <a:r>
              <a:rPr lang="en-US">
                <a:cs typeface="Sabon Next LT"/>
              </a:rPr>
              <a:t>Factory Games</a:t>
            </a:r>
            <a:endParaRPr lang="en-US"/>
          </a:p>
        </p:txBody>
      </p:sp>
      <p:sp>
        <p:nvSpPr>
          <p:cNvPr id="3" name="Content Placeholder 2">
            <a:extLst>
              <a:ext uri="{FF2B5EF4-FFF2-40B4-BE49-F238E27FC236}">
                <a16:creationId xmlns:a16="http://schemas.microsoft.com/office/drawing/2014/main" id="{3FC3DA79-14B7-3569-7BA8-6286083CEFE4}"/>
              </a:ext>
            </a:extLst>
          </p:cNvPr>
          <p:cNvSpPr>
            <a:spLocks noGrp="1"/>
          </p:cNvSpPr>
          <p:nvPr>
            <p:ph idx="1"/>
          </p:nvPr>
        </p:nvSpPr>
        <p:spPr>
          <a:xfrm>
            <a:off x="458694" y="2096931"/>
            <a:ext cx="10899134" cy="4195763"/>
          </a:xfrm>
        </p:spPr>
        <p:txBody>
          <a:bodyPr vert="horz" lIns="91440" tIns="45720" rIns="91440" bIns="45720" rtlCol="0" anchor="t">
            <a:normAutofit/>
          </a:bodyPr>
          <a:lstStyle/>
          <a:p>
            <a:pPr marL="0" indent="0">
              <a:buNone/>
            </a:pPr>
            <a:r>
              <a:rPr lang="en-US"/>
              <a:t>These games are well known for being fun, somewhat math focused games where the player optimizes production in their factory.</a:t>
            </a:r>
          </a:p>
          <a:p>
            <a:pPr marL="0" indent="0">
              <a:buNone/>
            </a:pPr>
            <a:endParaRPr lang="en-US"/>
          </a:p>
          <a:p>
            <a:pPr marL="0" indent="0">
              <a:buNone/>
            </a:pPr>
            <a:r>
              <a:rPr lang="en-US"/>
              <a:t>They are also known for being overcomplicated, overwhelming, moderately expensive (for indie games), and unfriendly to beginners.</a:t>
            </a:r>
          </a:p>
        </p:txBody>
      </p:sp>
      <p:pic>
        <p:nvPicPr>
          <p:cNvPr id="4" name="Picture 3" descr="A screenshot of a video game&#10;&#10;AI-generated content may be incorrect.">
            <a:extLst>
              <a:ext uri="{FF2B5EF4-FFF2-40B4-BE49-F238E27FC236}">
                <a16:creationId xmlns:a16="http://schemas.microsoft.com/office/drawing/2014/main" id="{3BE8341C-F817-9798-AD1E-BCFD2468E219}"/>
              </a:ext>
            </a:extLst>
          </p:cNvPr>
          <p:cNvPicPr>
            <a:picLocks noChangeAspect="1"/>
          </p:cNvPicPr>
          <p:nvPr/>
        </p:nvPicPr>
        <p:blipFill>
          <a:blip r:embed="rId2"/>
          <a:stretch>
            <a:fillRect/>
          </a:stretch>
        </p:blipFill>
        <p:spPr>
          <a:xfrm>
            <a:off x="10115214" y="-4555"/>
            <a:ext cx="2075820" cy="2086706"/>
          </a:xfrm>
          <a:prstGeom prst="rect">
            <a:avLst/>
          </a:prstGeom>
        </p:spPr>
      </p:pic>
      <p:pic>
        <p:nvPicPr>
          <p:cNvPr id="5" name="Picture 4" descr="A person sitting on a conveyor belt&#10;&#10;AI-generated content may be incorrect.">
            <a:extLst>
              <a:ext uri="{FF2B5EF4-FFF2-40B4-BE49-F238E27FC236}">
                <a16:creationId xmlns:a16="http://schemas.microsoft.com/office/drawing/2014/main" id="{ACCF40C8-A375-DB05-E1ED-85652D1FD6A0}"/>
              </a:ext>
            </a:extLst>
          </p:cNvPr>
          <p:cNvPicPr>
            <a:picLocks noChangeAspect="1"/>
          </p:cNvPicPr>
          <p:nvPr/>
        </p:nvPicPr>
        <p:blipFill>
          <a:blip r:embed="rId3"/>
          <a:stretch>
            <a:fillRect/>
          </a:stretch>
        </p:blipFill>
        <p:spPr>
          <a:xfrm>
            <a:off x="8026736" y="-4557"/>
            <a:ext cx="2086546" cy="2086705"/>
          </a:xfrm>
          <a:prstGeom prst="rect">
            <a:avLst/>
          </a:prstGeom>
        </p:spPr>
      </p:pic>
    </p:spTree>
    <p:extLst>
      <p:ext uri="{BB962C8B-B14F-4D97-AF65-F5344CB8AC3E}">
        <p14:creationId xmlns:p14="http://schemas.microsoft.com/office/powerpoint/2010/main" val="549789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24E7-194D-D87B-62AF-C0BD573FC33F}"/>
              </a:ext>
            </a:extLst>
          </p:cNvPr>
          <p:cNvSpPr>
            <a:spLocks noGrp="1"/>
          </p:cNvSpPr>
          <p:nvPr>
            <p:ph type="title"/>
          </p:nvPr>
        </p:nvSpPr>
        <p:spPr/>
        <p:txBody>
          <a:bodyPr/>
          <a:lstStyle/>
          <a:p>
            <a:r>
              <a:rPr lang="en-US">
                <a:cs typeface="Sabon Next LT"/>
              </a:rPr>
              <a:t>Here is our solution: Sift-Shift</a:t>
            </a:r>
          </a:p>
        </p:txBody>
      </p:sp>
      <p:sp>
        <p:nvSpPr>
          <p:cNvPr id="3" name="Content Placeholder 2">
            <a:extLst>
              <a:ext uri="{FF2B5EF4-FFF2-40B4-BE49-F238E27FC236}">
                <a16:creationId xmlns:a16="http://schemas.microsoft.com/office/drawing/2014/main" id="{F793B4E3-E254-C627-962C-4F79065A7852}"/>
              </a:ext>
            </a:extLst>
          </p:cNvPr>
          <p:cNvSpPr>
            <a:spLocks noGrp="1"/>
          </p:cNvSpPr>
          <p:nvPr>
            <p:ph idx="1"/>
          </p:nvPr>
        </p:nvSpPr>
        <p:spPr>
          <a:xfrm>
            <a:off x="458694" y="1949450"/>
            <a:ext cx="5635812" cy="4195763"/>
          </a:xfrm>
        </p:spPr>
        <p:txBody>
          <a:bodyPr vert="horz" lIns="91440" tIns="45720" rIns="91440" bIns="45720" rtlCol="0" anchor="t">
            <a:normAutofit/>
          </a:bodyPr>
          <a:lstStyle/>
          <a:p>
            <a:pPr>
              <a:buFont typeface="Arial"/>
              <a:buChar char="•"/>
            </a:pPr>
            <a:r>
              <a:rPr lang="en-US"/>
              <a:t>A retro-style, factory sim game that focuses on gameplay</a:t>
            </a:r>
          </a:p>
          <a:p>
            <a:pPr>
              <a:buFont typeface="Arial"/>
              <a:buChar char="•"/>
            </a:pPr>
            <a:endParaRPr lang="en-US"/>
          </a:p>
          <a:p>
            <a:pPr>
              <a:buFont typeface="Arial"/>
              <a:buChar char="•"/>
            </a:pPr>
            <a:r>
              <a:rPr lang="en-US"/>
              <a:t>A beginner-friendly and accessible pathway to this genre</a:t>
            </a:r>
          </a:p>
          <a:p>
            <a:pPr>
              <a:buFont typeface="Arial"/>
              <a:buChar char="•"/>
            </a:pPr>
            <a:endParaRPr lang="en-US"/>
          </a:p>
          <a:p>
            <a:pPr>
              <a:buFont typeface="Arial"/>
              <a:buChar char="•"/>
            </a:pPr>
            <a:endParaRPr lang="en-US"/>
          </a:p>
          <a:p>
            <a:pPr>
              <a:buFont typeface="Arial"/>
              <a:buChar char="•"/>
            </a:pPr>
            <a:endParaRPr lang="en-US"/>
          </a:p>
        </p:txBody>
      </p:sp>
      <p:pic>
        <p:nvPicPr>
          <p:cNvPr id="4" name="Sift-Shift">
            <a:hlinkClick r:id="" action="ppaction://media"/>
            <a:extLst>
              <a:ext uri="{FF2B5EF4-FFF2-40B4-BE49-F238E27FC236}">
                <a16:creationId xmlns:a16="http://schemas.microsoft.com/office/drawing/2014/main" id="{44DF13B1-7AE6-7813-5F74-DD7A1C1E0D8D}"/>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6497637" y="3269455"/>
            <a:ext cx="5053013" cy="3236120"/>
          </a:xfrm>
          <a:prstGeom prst="rect">
            <a:avLst/>
          </a:prstGeom>
        </p:spPr>
      </p:pic>
    </p:spTree>
    <p:extLst>
      <p:ext uri="{BB962C8B-B14F-4D97-AF65-F5344CB8AC3E}">
        <p14:creationId xmlns:p14="http://schemas.microsoft.com/office/powerpoint/2010/main" val="1166020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E7389-CBCE-2ECF-0305-181295C8A508}"/>
              </a:ext>
            </a:extLst>
          </p:cNvPr>
          <p:cNvSpPr>
            <a:spLocks noGrp="1"/>
          </p:cNvSpPr>
          <p:nvPr>
            <p:ph type="title"/>
          </p:nvPr>
        </p:nvSpPr>
        <p:spPr/>
        <p:txBody>
          <a:bodyPr>
            <a:normAutofit/>
          </a:bodyPr>
          <a:lstStyle/>
          <a:p>
            <a:r>
              <a:rPr lang="en-US">
                <a:cs typeface="Sabon Next LT"/>
              </a:rPr>
              <a:t>Why should you consider our product?</a:t>
            </a:r>
          </a:p>
        </p:txBody>
      </p:sp>
      <p:sp>
        <p:nvSpPr>
          <p:cNvPr id="3" name="Content Placeholder 2">
            <a:extLst>
              <a:ext uri="{FF2B5EF4-FFF2-40B4-BE49-F238E27FC236}">
                <a16:creationId xmlns:a16="http://schemas.microsoft.com/office/drawing/2014/main" id="{C81BA08D-FEAB-A1BE-4EFE-32C4EEA2E3A4}"/>
              </a:ext>
            </a:extLst>
          </p:cNvPr>
          <p:cNvSpPr>
            <a:spLocks noGrp="1"/>
          </p:cNvSpPr>
          <p:nvPr>
            <p:ph idx="1"/>
          </p:nvPr>
        </p:nvSpPr>
        <p:spPr>
          <a:xfrm>
            <a:off x="458694" y="1949450"/>
            <a:ext cx="5635812" cy="4195763"/>
          </a:xfrm>
        </p:spPr>
        <p:txBody>
          <a:bodyPr vert="horz" lIns="91440" tIns="45720" rIns="91440" bIns="45720" rtlCol="0" anchor="t">
            <a:normAutofit/>
          </a:bodyPr>
          <a:lstStyle/>
          <a:p>
            <a:endParaRPr lang="en-US"/>
          </a:p>
          <a:p>
            <a:endParaRPr lang="en-US"/>
          </a:p>
        </p:txBody>
      </p:sp>
      <p:sp>
        <p:nvSpPr>
          <p:cNvPr id="6" name="Content Placeholder 2">
            <a:extLst>
              <a:ext uri="{FF2B5EF4-FFF2-40B4-BE49-F238E27FC236}">
                <a16:creationId xmlns:a16="http://schemas.microsoft.com/office/drawing/2014/main" id="{4DC259B7-2FA8-4EAE-59D9-0C9CB626A401}"/>
              </a:ext>
            </a:extLst>
          </p:cNvPr>
          <p:cNvSpPr txBox="1">
            <a:spLocks/>
          </p:cNvSpPr>
          <p:nvPr/>
        </p:nvSpPr>
        <p:spPr>
          <a:xfrm>
            <a:off x="611094" y="2101850"/>
            <a:ext cx="5635812" cy="4195763"/>
          </a:xfrm>
          <a:prstGeom prst="rect">
            <a:avLst/>
          </a:prstGeom>
        </p:spPr>
        <p:txBody>
          <a:bodyPr vert="horz" lIns="91440" tIns="45720" rIns="91440" bIns="45720" rtlCol="0" anchor="t">
            <a:normAutofit/>
          </a:bodyPr>
          <a:lst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a:buChar char="•"/>
            </a:pPr>
            <a:r>
              <a:rPr lang="en-US"/>
              <a:t>A great introduction to the factory simulation genre</a:t>
            </a:r>
          </a:p>
          <a:p>
            <a:pPr>
              <a:buFont typeface="Arial"/>
              <a:buChar char="•"/>
            </a:pPr>
            <a:endParaRPr lang="en-US"/>
          </a:p>
          <a:p>
            <a:pPr>
              <a:buFont typeface="Arial"/>
              <a:buChar char="•"/>
            </a:pPr>
            <a:r>
              <a:rPr lang="en-US"/>
              <a:t>Also, a good entry for retro-style enjoyers</a:t>
            </a:r>
          </a:p>
          <a:p>
            <a:pPr>
              <a:buFont typeface="Arial"/>
              <a:buChar char="•"/>
            </a:pPr>
            <a:endParaRPr lang="en-US"/>
          </a:p>
          <a:p>
            <a:pPr>
              <a:buFont typeface="Arial"/>
              <a:buChar char="•"/>
            </a:pPr>
            <a:endParaRPr lang="en-US"/>
          </a:p>
          <a:p>
            <a:pPr>
              <a:buFont typeface="Arial"/>
              <a:buChar char="•"/>
            </a:pPr>
            <a:endParaRPr lang="en-US"/>
          </a:p>
        </p:txBody>
      </p:sp>
    </p:spTree>
    <p:extLst>
      <p:ext uri="{BB962C8B-B14F-4D97-AF65-F5344CB8AC3E}">
        <p14:creationId xmlns:p14="http://schemas.microsoft.com/office/powerpoint/2010/main" val="3545623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77FE8-2A1D-2D01-BFBB-7F99A853A08F}"/>
              </a:ext>
            </a:extLst>
          </p:cNvPr>
          <p:cNvSpPr>
            <a:spLocks noGrp="1"/>
          </p:cNvSpPr>
          <p:nvPr>
            <p:ph type="title"/>
          </p:nvPr>
        </p:nvSpPr>
        <p:spPr/>
        <p:txBody>
          <a:bodyPr/>
          <a:lstStyle/>
          <a:p>
            <a:r>
              <a:rPr lang="en-US">
                <a:cs typeface="Sabon Next LT"/>
              </a:rPr>
              <a:t>Game Features</a:t>
            </a:r>
          </a:p>
        </p:txBody>
      </p:sp>
      <p:sp>
        <p:nvSpPr>
          <p:cNvPr id="3" name="Content Placeholder 2">
            <a:extLst>
              <a:ext uri="{FF2B5EF4-FFF2-40B4-BE49-F238E27FC236}">
                <a16:creationId xmlns:a16="http://schemas.microsoft.com/office/drawing/2014/main" id="{752EF3D5-8A6B-EB05-2AE3-C06A14CD9DA8}"/>
              </a:ext>
            </a:extLst>
          </p:cNvPr>
          <p:cNvSpPr>
            <a:spLocks noGrp="1"/>
          </p:cNvSpPr>
          <p:nvPr>
            <p:ph idx="1"/>
          </p:nvPr>
        </p:nvSpPr>
        <p:spPr>
          <a:xfrm>
            <a:off x="458694" y="1949450"/>
            <a:ext cx="5635812" cy="4195763"/>
          </a:xfrm>
        </p:spPr>
        <p:txBody>
          <a:bodyPr vert="horz" lIns="91440" tIns="45720" rIns="91440" bIns="45720" rtlCol="0" anchor="t">
            <a:normAutofit/>
          </a:bodyPr>
          <a:lstStyle/>
          <a:p>
            <a:r>
              <a:rPr lang="en-US"/>
              <a:t>In-game economy that progressively ramps up</a:t>
            </a:r>
          </a:p>
          <a:p>
            <a:pPr lvl="1">
              <a:buFont typeface="Courier New" panose="020B0604020202020204" pitchFamily="34" charset="0"/>
              <a:buChar char="o"/>
            </a:pPr>
            <a:r>
              <a:rPr lang="en-US"/>
              <a:t>Increases player goal to keep playing our product.</a:t>
            </a:r>
          </a:p>
          <a:p>
            <a:pPr lvl="1">
              <a:buFont typeface="Courier New" panose="020B0604020202020204" pitchFamily="34" charset="0"/>
              <a:buChar char="o"/>
            </a:pPr>
            <a:endParaRPr lang="en-US"/>
          </a:p>
          <a:p>
            <a:r>
              <a:rPr lang="en-US"/>
              <a:t>Tile placement tactics and procedural map generation</a:t>
            </a:r>
          </a:p>
        </p:txBody>
      </p:sp>
      <p:pic>
        <p:nvPicPr>
          <p:cNvPr id="4" name="Picture 3" descr="A pixelated video game&#10;&#10;AI-generated content may be incorrect.">
            <a:extLst>
              <a:ext uri="{FF2B5EF4-FFF2-40B4-BE49-F238E27FC236}">
                <a16:creationId xmlns:a16="http://schemas.microsoft.com/office/drawing/2014/main" id="{BAE90650-1AB0-D36B-E0CF-E206D4927CC5}"/>
              </a:ext>
            </a:extLst>
          </p:cNvPr>
          <p:cNvPicPr>
            <a:picLocks noChangeAspect="1"/>
          </p:cNvPicPr>
          <p:nvPr/>
        </p:nvPicPr>
        <p:blipFill>
          <a:blip r:embed="rId2"/>
          <a:stretch>
            <a:fillRect/>
          </a:stretch>
        </p:blipFill>
        <p:spPr>
          <a:xfrm>
            <a:off x="9473453" y="2041009"/>
            <a:ext cx="2714065" cy="1999691"/>
          </a:xfrm>
          <a:prstGeom prst="rect">
            <a:avLst/>
          </a:prstGeom>
        </p:spPr>
      </p:pic>
      <p:pic>
        <p:nvPicPr>
          <p:cNvPr id="5" name="Picture 4" descr="A screenshot of a game&#10;&#10;AI-generated content may be incorrect.">
            <a:extLst>
              <a:ext uri="{FF2B5EF4-FFF2-40B4-BE49-F238E27FC236}">
                <a16:creationId xmlns:a16="http://schemas.microsoft.com/office/drawing/2014/main" id="{6D2F80BB-3073-924B-88BE-4656A196AE47}"/>
              </a:ext>
            </a:extLst>
          </p:cNvPr>
          <p:cNvPicPr>
            <a:picLocks noChangeAspect="1"/>
          </p:cNvPicPr>
          <p:nvPr/>
        </p:nvPicPr>
        <p:blipFill>
          <a:blip r:embed="rId3"/>
          <a:stretch>
            <a:fillRect/>
          </a:stretch>
        </p:blipFill>
        <p:spPr>
          <a:xfrm>
            <a:off x="6305285" y="1334317"/>
            <a:ext cx="3023908" cy="2986929"/>
          </a:xfrm>
          <a:prstGeom prst="rect">
            <a:avLst/>
          </a:prstGeom>
        </p:spPr>
      </p:pic>
      <p:pic>
        <p:nvPicPr>
          <p:cNvPr id="6" name="Picture 5" descr="A screenshot of a video game&#10;&#10;AI-generated content may be incorrect.">
            <a:extLst>
              <a:ext uri="{FF2B5EF4-FFF2-40B4-BE49-F238E27FC236}">
                <a16:creationId xmlns:a16="http://schemas.microsoft.com/office/drawing/2014/main" id="{633A371C-3759-D024-5F5A-E4E47B7C874F}"/>
              </a:ext>
            </a:extLst>
          </p:cNvPr>
          <p:cNvPicPr>
            <a:picLocks noChangeAspect="1"/>
          </p:cNvPicPr>
          <p:nvPr/>
        </p:nvPicPr>
        <p:blipFill>
          <a:blip r:embed="rId4"/>
          <a:stretch>
            <a:fillRect/>
          </a:stretch>
        </p:blipFill>
        <p:spPr>
          <a:xfrm>
            <a:off x="7166096" y="4320955"/>
            <a:ext cx="4769289" cy="2438434"/>
          </a:xfrm>
          <a:prstGeom prst="rect">
            <a:avLst/>
          </a:prstGeom>
        </p:spPr>
      </p:pic>
    </p:spTree>
    <p:extLst>
      <p:ext uri="{BB962C8B-B14F-4D97-AF65-F5344CB8AC3E}">
        <p14:creationId xmlns:p14="http://schemas.microsoft.com/office/powerpoint/2010/main" val="457294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CF4EA-A908-F284-C38F-B93F10D8A5D3}"/>
              </a:ext>
            </a:extLst>
          </p:cNvPr>
          <p:cNvSpPr>
            <a:spLocks noGrp="1"/>
          </p:cNvSpPr>
          <p:nvPr>
            <p:ph type="title"/>
          </p:nvPr>
        </p:nvSpPr>
        <p:spPr/>
        <p:txBody>
          <a:bodyPr>
            <a:normAutofit/>
          </a:bodyPr>
          <a:lstStyle/>
          <a:p>
            <a:r>
              <a:rPr lang="en-US">
                <a:cs typeface="Sabon Next LT"/>
              </a:rPr>
              <a:t>Art Direction</a:t>
            </a:r>
          </a:p>
        </p:txBody>
      </p:sp>
      <p:sp>
        <p:nvSpPr>
          <p:cNvPr id="3" name="Content Placeholder 2">
            <a:extLst>
              <a:ext uri="{FF2B5EF4-FFF2-40B4-BE49-F238E27FC236}">
                <a16:creationId xmlns:a16="http://schemas.microsoft.com/office/drawing/2014/main" id="{A817B6D0-4244-2A34-7317-96D4CBC86F62}"/>
              </a:ext>
            </a:extLst>
          </p:cNvPr>
          <p:cNvSpPr>
            <a:spLocks noGrp="1"/>
          </p:cNvSpPr>
          <p:nvPr>
            <p:ph idx="1"/>
          </p:nvPr>
        </p:nvSpPr>
        <p:spPr>
          <a:xfrm>
            <a:off x="458694" y="1949450"/>
            <a:ext cx="5635812" cy="4195763"/>
          </a:xfrm>
        </p:spPr>
        <p:txBody>
          <a:bodyPr vert="horz" lIns="91440" tIns="45720" rIns="91440" bIns="45720" rtlCol="0" anchor="t">
            <a:normAutofit/>
          </a:bodyPr>
          <a:lstStyle/>
          <a:p>
            <a:pPr marL="457200" indent="-457200"/>
            <a:r>
              <a:rPr lang="en-US">
                <a:ea typeface="+mn-lt"/>
                <a:cs typeface="+mn-lt"/>
              </a:rPr>
              <a:t>Sprite Work</a:t>
            </a:r>
          </a:p>
          <a:p>
            <a:pPr marL="914400" lvl="1" indent="-457200">
              <a:buFont typeface="Courier New" panose="020B0604020202020204" pitchFamily="34" charset="0"/>
              <a:buChar char="o"/>
            </a:pPr>
            <a:r>
              <a:rPr lang="en-US"/>
              <a:t>Retro &amp; Medieval Themed</a:t>
            </a:r>
          </a:p>
          <a:p>
            <a:pPr marL="914400" lvl="1" indent="-457200">
              <a:buFont typeface="Courier New" panose="020B0604020202020204" pitchFamily="34" charset="0"/>
              <a:buChar char="o"/>
            </a:pPr>
            <a:r>
              <a:rPr lang="en-US"/>
              <a:t>Apart from UI/Menu elements</a:t>
            </a:r>
          </a:p>
          <a:p>
            <a:pPr marL="914400" lvl="1" indent="-457200">
              <a:buFont typeface="Courier New" panose="020B0604020202020204" pitchFamily="34" charset="0"/>
              <a:buChar char="o"/>
            </a:pPr>
            <a:endParaRPr lang="en-US"/>
          </a:p>
          <a:p>
            <a:pPr marL="457200" indent="-457200"/>
            <a:r>
              <a:rPr lang="en-US"/>
              <a:t>Sound Design</a:t>
            </a:r>
          </a:p>
          <a:p>
            <a:pPr marL="914400" lvl="1" indent="-457200">
              <a:buFont typeface="Courier New" panose="020B0604020202020204" pitchFamily="34" charset="0"/>
              <a:buChar char="o"/>
            </a:pPr>
            <a:r>
              <a:rPr lang="en-US"/>
              <a:t>How buttons sound, music, etc.</a:t>
            </a:r>
          </a:p>
          <a:p>
            <a:pPr marL="457200" indent="-457200"/>
            <a:endParaRPr lang="en-US"/>
          </a:p>
          <a:p>
            <a:pPr marL="457200" indent="-457200"/>
            <a:endParaRPr lang="en-US"/>
          </a:p>
        </p:txBody>
      </p:sp>
      <p:pic>
        <p:nvPicPr>
          <p:cNvPr id="4" name="Picture 3" descr="A screenshot of a video game&#10;&#10;AI-generated content may be incorrect.">
            <a:extLst>
              <a:ext uri="{FF2B5EF4-FFF2-40B4-BE49-F238E27FC236}">
                <a16:creationId xmlns:a16="http://schemas.microsoft.com/office/drawing/2014/main" id="{462A3C8A-B121-46A1-AA27-D0534498B709}"/>
              </a:ext>
            </a:extLst>
          </p:cNvPr>
          <p:cNvPicPr>
            <a:picLocks noChangeAspect="1"/>
          </p:cNvPicPr>
          <p:nvPr/>
        </p:nvPicPr>
        <p:blipFill>
          <a:blip r:embed="rId2"/>
          <a:stretch>
            <a:fillRect/>
          </a:stretch>
        </p:blipFill>
        <p:spPr>
          <a:xfrm>
            <a:off x="7233129" y="2485010"/>
            <a:ext cx="4781550" cy="2743200"/>
          </a:xfrm>
          <a:prstGeom prst="rect">
            <a:avLst/>
          </a:prstGeom>
        </p:spPr>
      </p:pic>
    </p:spTree>
    <p:extLst>
      <p:ext uri="{BB962C8B-B14F-4D97-AF65-F5344CB8AC3E}">
        <p14:creationId xmlns:p14="http://schemas.microsoft.com/office/powerpoint/2010/main" val="3772185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FB4F8-AC06-445E-8ADA-518186561364}"/>
              </a:ext>
            </a:extLst>
          </p:cNvPr>
          <p:cNvSpPr>
            <a:spLocks noGrp="1"/>
          </p:cNvSpPr>
          <p:nvPr>
            <p:ph type="title"/>
          </p:nvPr>
        </p:nvSpPr>
        <p:spPr/>
        <p:txBody>
          <a:bodyPr>
            <a:normAutofit/>
          </a:bodyPr>
          <a:lstStyle/>
          <a:p>
            <a:r>
              <a:rPr lang="en-US">
                <a:cs typeface="Sabon Next LT"/>
              </a:rPr>
              <a:t>UI &amp; Menu Direction</a:t>
            </a:r>
          </a:p>
        </p:txBody>
      </p:sp>
      <p:sp>
        <p:nvSpPr>
          <p:cNvPr id="3" name="Content Placeholder 2">
            <a:extLst>
              <a:ext uri="{FF2B5EF4-FFF2-40B4-BE49-F238E27FC236}">
                <a16:creationId xmlns:a16="http://schemas.microsoft.com/office/drawing/2014/main" id="{E611BD3B-2AD4-7F9A-7D31-303066B2EE67}"/>
              </a:ext>
            </a:extLst>
          </p:cNvPr>
          <p:cNvSpPr>
            <a:spLocks noGrp="1"/>
          </p:cNvSpPr>
          <p:nvPr>
            <p:ph idx="1"/>
          </p:nvPr>
        </p:nvSpPr>
        <p:spPr>
          <a:xfrm>
            <a:off x="458694" y="1949450"/>
            <a:ext cx="5635812" cy="4195763"/>
          </a:xfrm>
        </p:spPr>
        <p:txBody>
          <a:bodyPr vert="horz" lIns="91440" tIns="45720" rIns="91440" bIns="45720" rtlCol="0" anchor="t">
            <a:normAutofit/>
          </a:bodyPr>
          <a:lstStyle/>
          <a:p>
            <a:r>
              <a:rPr lang="en-US"/>
              <a:t>Accessibility and qualities of life were the biggest priorities.</a:t>
            </a:r>
          </a:p>
          <a:p>
            <a:endParaRPr lang="en-US"/>
          </a:p>
          <a:p>
            <a:r>
              <a:rPr lang="en-US"/>
              <a:t>Connecting front-end to back-end.</a:t>
            </a:r>
          </a:p>
        </p:txBody>
      </p:sp>
    </p:spTree>
    <p:extLst>
      <p:ext uri="{BB962C8B-B14F-4D97-AF65-F5344CB8AC3E}">
        <p14:creationId xmlns:p14="http://schemas.microsoft.com/office/powerpoint/2010/main" val="1695346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31308-6319-22B7-B836-0676EA066C38}"/>
              </a:ext>
            </a:extLst>
          </p:cNvPr>
          <p:cNvSpPr>
            <a:spLocks noGrp="1"/>
          </p:cNvSpPr>
          <p:nvPr>
            <p:ph type="title"/>
          </p:nvPr>
        </p:nvSpPr>
        <p:spPr/>
        <p:txBody>
          <a:bodyPr>
            <a:normAutofit/>
          </a:bodyPr>
          <a:lstStyle/>
          <a:p>
            <a:r>
              <a:rPr lang="en-US">
                <a:cs typeface="Sabon Next LT"/>
              </a:rPr>
              <a:t>Maps, Merging, &amp; Implementation </a:t>
            </a:r>
          </a:p>
        </p:txBody>
      </p:sp>
      <p:sp>
        <p:nvSpPr>
          <p:cNvPr id="3" name="Content Placeholder 2">
            <a:extLst>
              <a:ext uri="{FF2B5EF4-FFF2-40B4-BE49-F238E27FC236}">
                <a16:creationId xmlns:a16="http://schemas.microsoft.com/office/drawing/2014/main" id="{569378AC-C465-5AA4-2531-5C86DEA26167}"/>
              </a:ext>
            </a:extLst>
          </p:cNvPr>
          <p:cNvSpPr>
            <a:spLocks noGrp="1"/>
          </p:cNvSpPr>
          <p:nvPr>
            <p:ph idx="1"/>
          </p:nvPr>
        </p:nvSpPr>
        <p:spPr>
          <a:xfrm>
            <a:off x="458694" y="1949450"/>
            <a:ext cx="5559612" cy="4195763"/>
          </a:xfrm>
        </p:spPr>
        <p:txBody>
          <a:bodyPr vert="horz" lIns="91440" tIns="45720" rIns="91440" bIns="45720" rtlCol="0" anchor="t">
            <a:normAutofit/>
          </a:bodyPr>
          <a:lstStyle/>
          <a:p>
            <a:r>
              <a:rPr lang="en-US"/>
              <a:t>The player has 100% creative freedom with the product.</a:t>
            </a:r>
          </a:p>
          <a:p>
            <a:endParaRPr lang="en-US" sz="3200"/>
          </a:p>
          <a:p>
            <a:r>
              <a:rPr lang="en-US" sz="3200"/>
              <a:t>Think of the product as a sandbox.</a:t>
            </a:r>
          </a:p>
        </p:txBody>
      </p:sp>
      <p:pic>
        <p:nvPicPr>
          <p:cNvPr id="4" name="Picture 3" descr="A screenshot of a video game&#10;&#10;AI-generated content may be incorrect.">
            <a:extLst>
              <a:ext uri="{FF2B5EF4-FFF2-40B4-BE49-F238E27FC236}">
                <a16:creationId xmlns:a16="http://schemas.microsoft.com/office/drawing/2014/main" id="{792D8F2F-C176-9AB6-1408-AF2A66776183}"/>
              </a:ext>
            </a:extLst>
          </p:cNvPr>
          <p:cNvPicPr>
            <a:picLocks noChangeAspect="1"/>
          </p:cNvPicPr>
          <p:nvPr/>
        </p:nvPicPr>
        <p:blipFill>
          <a:blip r:embed="rId2"/>
          <a:stretch>
            <a:fillRect/>
          </a:stretch>
        </p:blipFill>
        <p:spPr>
          <a:xfrm>
            <a:off x="8732156" y="3667124"/>
            <a:ext cx="3347813" cy="3059908"/>
          </a:xfrm>
          <a:prstGeom prst="rect">
            <a:avLst/>
          </a:prstGeom>
        </p:spPr>
      </p:pic>
    </p:spTree>
    <p:extLst>
      <p:ext uri="{BB962C8B-B14F-4D97-AF65-F5344CB8AC3E}">
        <p14:creationId xmlns:p14="http://schemas.microsoft.com/office/powerpoint/2010/main" val="1121746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83E1F-048B-C5A4-4907-BCD18E45F374}"/>
              </a:ext>
            </a:extLst>
          </p:cNvPr>
          <p:cNvSpPr>
            <a:spLocks noGrp="1"/>
          </p:cNvSpPr>
          <p:nvPr>
            <p:ph type="title"/>
          </p:nvPr>
        </p:nvSpPr>
        <p:spPr/>
        <p:txBody>
          <a:bodyPr/>
          <a:lstStyle/>
          <a:p>
            <a:r>
              <a:rPr lang="en-US">
                <a:cs typeface="Sabon Next LT"/>
              </a:rPr>
              <a:t>Demo</a:t>
            </a:r>
            <a:endParaRPr lang="en-US"/>
          </a:p>
        </p:txBody>
      </p:sp>
    </p:spTree>
    <p:extLst>
      <p:ext uri="{BB962C8B-B14F-4D97-AF65-F5344CB8AC3E}">
        <p14:creationId xmlns:p14="http://schemas.microsoft.com/office/powerpoint/2010/main" val="2252342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C3300-B977-37A0-5F73-C60432F5E1E8}"/>
              </a:ext>
            </a:extLst>
          </p:cNvPr>
          <p:cNvSpPr>
            <a:spLocks noGrp="1"/>
          </p:cNvSpPr>
          <p:nvPr>
            <p:ph type="title"/>
          </p:nvPr>
        </p:nvSpPr>
        <p:spPr/>
        <p:txBody>
          <a:bodyPr/>
          <a:lstStyle/>
          <a:p>
            <a:r>
              <a:rPr lang="en-US">
                <a:cs typeface="Sabon Next LT"/>
              </a:rPr>
              <a:t>Plans for future implementations</a:t>
            </a:r>
            <a:endParaRPr lang="en-US"/>
          </a:p>
        </p:txBody>
      </p:sp>
      <p:sp>
        <p:nvSpPr>
          <p:cNvPr id="3" name="Content Placeholder 2">
            <a:extLst>
              <a:ext uri="{FF2B5EF4-FFF2-40B4-BE49-F238E27FC236}">
                <a16:creationId xmlns:a16="http://schemas.microsoft.com/office/drawing/2014/main" id="{AAFFD3DC-FDD9-5ED4-EC77-745BA536A949}"/>
              </a:ext>
            </a:extLst>
          </p:cNvPr>
          <p:cNvSpPr>
            <a:spLocks noGrp="1"/>
          </p:cNvSpPr>
          <p:nvPr>
            <p:ph idx="1"/>
          </p:nvPr>
        </p:nvSpPr>
        <p:spPr>
          <a:xfrm>
            <a:off x="458694" y="1949450"/>
            <a:ext cx="5445312" cy="4195763"/>
          </a:xfrm>
        </p:spPr>
        <p:txBody>
          <a:bodyPr vert="horz" lIns="91440" tIns="45720" rIns="91440" bIns="45720" rtlCol="0" anchor="t">
            <a:normAutofit/>
          </a:bodyPr>
          <a:lstStyle/>
          <a:p>
            <a:r>
              <a:rPr lang="en-US"/>
              <a:t>Integration of website</a:t>
            </a:r>
          </a:p>
          <a:p>
            <a:pPr lvl="1">
              <a:buFont typeface="Courier New" panose="020B0604020202020204" pitchFamily="34" charset="0"/>
              <a:buChar char="o"/>
            </a:pPr>
            <a:r>
              <a:rPr lang="en-US"/>
              <a:t>Tutorial from GitHub -&gt; website</a:t>
            </a:r>
          </a:p>
          <a:p>
            <a:pPr lvl="1">
              <a:buFont typeface="Courier New" panose="020B0604020202020204" pitchFamily="34" charset="0"/>
              <a:buChar char="o"/>
            </a:pPr>
            <a:endParaRPr lang="en-US"/>
          </a:p>
          <a:p>
            <a:r>
              <a:rPr lang="en-US"/>
              <a:t>More unique regions/tiles/materials</a:t>
            </a:r>
          </a:p>
          <a:p>
            <a:endParaRPr lang="en-US"/>
          </a:p>
          <a:p>
            <a:r>
              <a:rPr lang="en-US"/>
              <a:t>Implementation of mechanics beyond functional scope</a:t>
            </a:r>
          </a:p>
        </p:txBody>
      </p:sp>
      <p:pic>
        <p:nvPicPr>
          <p:cNvPr id="5" name="Picture 4">
            <a:extLst>
              <a:ext uri="{FF2B5EF4-FFF2-40B4-BE49-F238E27FC236}">
                <a16:creationId xmlns:a16="http://schemas.microsoft.com/office/drawing/2014/main" id="{F4636F4B-CB8A-88ED-4D75-EBBCD08E8C76}"/>
              </a:ext>
            </a:extLst>
          </p:cNvPr>
          <p:cNvPicPr>
            <a:picLocks noChangeAspect="1"/>
          </p:cNvPicPr>
          <p:nvPr/>
        </p:nvPicPr>
        <p:blipFill>
          <a:blip r:embed="rId2"/>
          <a:stretch>
            <a:fillRect/>
          </a:stretch>
        </p:blipFill>
        <p:spPr>
          <a:xfrm>
            <a:off x="5671538" y="1493521"/>
            <a:ext cx="6520462" cy="3667760"/>
          </a:xfrm>
          <a:prstGeom prst="rect">
            <a:avLst/>
          </a:prstGeom>
        </p:spPr>
      </p:pic>
    </p:spTree>
    <p:extLst>
      <p:ext uri="{BB962C8B-B14F-4D97-AF65-F5344CB8AC3E}">
        <p14:creationId xmlns:p14="http://schemas.microsoft.com/office/powerpoint/2010/main" val="581118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77174-48B7-EF25-6FE6-F7B1F1D27753}"/>
              </a:ext>
            </a:extLst>
          </p:cNvPr>
          <p:cNvSpPr>
            <a:spLocks noGrp="1"/>
          </p:cNvSpPr>
          <p:nvPr>
            <p:ph type="title"/>
          </p:nvPr>
        </p:nvSpPr>
        <p:spPr/>
        <p:txBody>
          <a:bodyPr/>
          <a:lstStyle/>
          <a:p>
            <a:r>
              <a:rPr lang="en-US">
                <a:cs typeface="Sabon Next LT"/>
              </a:rPr>
              <a:t>Conclusion</a:t>
            </a:r>
            <a:endParaRPr lang="en-US"/>
          </a:p>
        </p:txBody>
      </p:sp>
      <p:sp>
        <p:nvSpPr>
          <p:cNvPr id="3" name="Content Placeholder 2">
            <a:extLst>
              <a:ext uri="{FF2B5EF4-FFF2-40B4-BE49-F238E27FC236}">
                <a16:creationId xmlns:a16="http://schemas.microsoft.com/office/drawing/2014/main" id="{2CEEF679-26E4-D9E8-5F06-A1C1AA0D8B78}"/>
              </a:ext>
            </a:extLst>
          </p:cNvPr>
          <p:cNvSpPr>
            <a:spLocks noGrp="1"/>
          </p:cNvSpPr>
          <p:nvPr>
            <p:ph idx="1"/>
          </p:nvPr>
        </p:nvSpPr>
        <p:spPr>
          <a:xfrm>
            <a:off x="458694" y="1949450"/>
            <a:ext cx="5450755" cy="4195763"/>
          </a:xfrm>
        </p:spPr>
        <p:txBody>
          <a:bodyPr vert="horz" lIns="91440" tIns="45720" rIns="91440" bIns="45720" rtlCol="0" anchor="t">
            <a:normAutofit fontScale="92500" lnSpcReduction="20000"/>
          </a:bodyPr>
          <a:lstStyle/>
          <a:p>
            <a:r>
              <a:rPr lang="en-US"/>
              <a:t>We set out to make a game based on real game-dev tactics.</a:t>
            </a:r>
          </a:p>
          <a:p>
            <a:pPr lvl="1">
              <a:buFont typeface="Courier New" panose="020B0604020202020204" pitchFamily="34" charset="0"/>
              <a:buChar char="o"/>
            </a:pPr>
            <a:r>
              <a:rPr lang="en-US"/>
              <a:t>Gameplay, art and sound included</a:t>
            </a:r>
          </a:p>
          <a:p>
            <a:pPr marL="457200" lvl="1" indent="0">
              <a:buNone/>
            </a:pPr>
            <a:endParaRPr lang="en-US"/>
          </a:p>
          <a:p>
            <a:r>
              <a:rPr lang="en-US"/>
              <a:t>Contributed to the game-dev environment.</a:t>
            </a:r>
          </a:p>
          <a:p>
            <a:pPr marL="0" indent="0">
              <a:buNone/>
            </a:pPr>
            <a:endParaRPr lang="en-US"/>
          </a:p>
          <a:p>
            <a:r>
              <a:rPr lang="en-US"/>
              <a:t>And providing our target audience with an acceptable project of the same caliber.</a:t>
            </a:r>
          </a:p>
        </p:txBody>
      </p:sp>
    </p:spTree>
    <p:extLst>
      <p:ext uri="{BB962C8B-B14F-4D97-AF65-F5344CB8AC3E}">
        <p14:creationId xmlns:p14="http://schemas.microsoft.com/office/powerpoint/2010/main" val="36281573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A89FD8-9623-F1FD-0A21-96D870925D44}"/>
              </a:ext>
            </a:extLst>
          </p:cNvPr>
          <p:cNvSpPr>
            <a:spLocks noGrp="1"/>
          </p:cNvSpPr>
          <p:nvPr>
            <p:ph type="title"/>
          </p:nvPr>
        </p:nvSpPr>
        <p:spPr/>
        <p:txBody>
          <a:bodyPr/>
          <a:lstStyle/>
          <a:p>
            <a:r>
              <a:rPr lang="en-US">
                <a:cs typeface="Sabon Next LT"/>
              </a:rPr>
              <a:t>References</a:t>
            </a:r>
            <a:endParaRPr lang="en-US"/>
          </a:p>
        </p:txBody>
      </p:sp>
      <p:sp>
        <p:nvSpPr>
          <p:cNvPr id="3" name="Content Placeholder 2">
            <a:extLst>
              <a:ext uri="{FF2B5EF4-FFF2-40B4-BE49-F238E27FC236}">
                <a16:creationId xmlns:a16="http://schemas.microsoft.com/office/drawing/2014/main" id="{6280D455-6E4D-03FD-EF19-5C294983346F}"/>
              </a:ext>
            </a:extLst>
          </p:cNvPr>
          <p:cNvSpPr>
            <a:spLocks noGrp="1"/>
          </p:cNvSpPr>
          <p:nvPr>
            <p:ph idx="1"/>
          </p:nvPr>
        </p:nvSpPr>
        <p:spPr>
          <a:xfrm>
            <a:off x="230094" y="1927679"/>
            <a:ext cx="5679354" cy="5023077"/>
          </a:xfrm>
        </p:spPr>
        <p:txBody>
          <a:bodyPr vert="horz" lIns="91440" tIns="45720" rIns="91440" bIns="45720" rtlCol="0" anchor="t">
            <a:normAutofit fontScale="40000" lnSpcReduction="20000"/>
          </a:bodyPr>
          <a:lstStyle/>
          <a:p>
            <a:pPr algn="ctr">
              <a:buNone/>
            </a:pPr>
            <a:r>
              <a:rPr lang="en-US" sz="4000" i="1">
                <a:latin typeface="Times New Roman"/>
                <a:cs typeface="Times New Roman"/>
              </a:rPr>
              <a:t>Games</a:t>
            </a:r>
          </a:p>
          <a:p>
            <a:pPr>
              <a:buNone/>
            </a:pPr>
            <a:r>
              <a:rPr lang="en-US" sz="4000" i="1" err="1">
                <a:latin typeface="Times New Roman"/>
                <a:cs typeface="Times New Roman"/>
              </a:rPr>
              <a:t>Factorio</a:t>
            </a:r>
            <a:r>
              <a:rPr lang="en-US" sz="4000" i="1">
                <a:latin typeface="Times New Roman"/>
                <a:cs typeface="Times New Roman"/>
              </a:rPr>
              <a:t>, </a:t>
            </a:r>
            <a:r>
              <a:rPr lang="en-US" sz="4000" i="1" err="1">
                <a:latin typeface="Times New Roman"/>
                <a:cs typeface="Times New Roman"/>
              </a:rPr>
              <a:t>Wube</a:t>
            </a:r>
            <a:r>
              <a:rPr lang="en-US" sz="4000" i="1">
                <a:latin typeface="Times New Roman"/>
                <a:cs typeface="Times New Roman"/>
              </a:rPr>
              <a:t> Software</a:t>
            </a:r>
            <a:endParaRPr lang="en-US" sz="4000">
              <a:latin typeface="Times New Roman"/>
              <a:cs typeface="Times New Roman"/>
            </a:endParaRPr>
          </a:p>
          <a:p>
            <a:pPr>
              <a:buNone/>
            </a:pPr>
            <a:r>
              <a:rPr lang="en-US" sz="4000" i="1">
                <a:latin typeface="Times New Roman"/>
                <a:cs typeface="Times New Roman"/>
              </a:rPr>
              <a:t>Satisfactory, Coffee Stain Studios</a:t>
            </a:r>
            <a:endParaRPr lang="en-US" sz="4000">
              <a:latin typeface="Times New Roman"/>
              <a:cs typeface="Times New Roman"/>
            </a:endParaRPr>
          </a:p>
          <a:p>
            <a:pPr>
              <a:buNone/>
            </a:pPr>
            <a:r>
              <a:rPr lang="en-US" sz="4000" i="1" err="1">
                <a:latin typeface="Times New Roman"/>
                <a:cs typeface="Times New Roman"/>
              </a:rPr>
              <a:t>Shapez</a:t>
            </a:r>
            <a:r>
              <a:rPr lang="en-US" sz="4000" i="1">
                <a:latin typeface="Times New Roman"/>
                <a:cs typeface="Times New Roman"/>
              </a:rPr>
              <a:t>, Tobias Springer</a:t>
            </a:r>
          </a:p>
          <a:p>
            <a:pPr>
              <a:buNone/>
            </a:pPr>
            <a:r>
              <a:rPr lang="en-US" sz="4000" i="1">
                <a:latin typeface="Times New Roman"/>
                <a:cs typeface="Times New Roman"/>
              </a:rPr>
              <a:t>Europa Universalis V, Paradox Tinto</a:t>
            </a:r>
            <a:endParaRPr lang="en-US" sz="4000">
              <a:latin typeface="Times New Roman"/>
              <a:cs typeface="Times New Roman"/>
            </a:endParaRPr>
          </a:p>
          <a:p>
            <a:pPr>
              <a:buNone/>
            </a:pPr>
            <a:r>
              <a:rPr lang="en-US" sz="4000" i="1">
                <a:latin typeface="Times New Roman"/>
                <a:cs typeface="Times New Roman"/>
              </a:rPr>
              <a:t>Minecraft, Mojang Studios</a:t>
            </a:r>
            <a:endParaRPr lang="en-US" sz="4000">
              <a:latin typeface="Times New Roman"/>
              <a:cs typeface="Times New Roman"/>
            </a:endParaRPr>
          </a:p>
          <a:p>
            <a:pPr>
              <a:buNone/>
            </a:pPr>
            <a:r>
              <a:rPr lang="en-US" sz="4000" i="1" err="1">
                <a:latin typeface="Times New Roman"/>
                <a:cs typeface="Times New Roman"/>
              </a:rPr>
              <a:t>Beltmatic</a:t>
            </a:r>
            <a:r>
              <a:rPr lang="en-US" sz="4000" i="1">
                <a:latin typeface="Times New Roman"/>
                <a:cs typeface="Times New Roman"/>
              </a:rPr>
              <a:t>, Notional Games</a:t>
            </a:r>
          </a:p>
          <a:p>
            <a:pPr>
              <a:buNone/>
            </a:pPr>
            <a:r>
              <a:rPr lang="en-US" sz="4000" i="1" err="1">
                <a:latin typeface="Times New Roman"/>
                <a:cs typeface="Times New Roman"/>
              </a:rPr>
              <a:t>Rimworld</a:t>
            </a:r>
            <a:r>
              <a:rPr lang="en-US" sz="4000" i="1">
                <a:latin typeface="Times New Roman"/>
                <a:cs typeface="Times New Roman"/>
              </a:rPr>
              <a:t>, Tynan Sylvester</a:t>
            </a:r>
          </a:p>
          <a:p>
            <a:pPr>
              <a:buNone/>
            </a:pPr>
            <a:r>
              <a:rPr lang="en-US" sz="4000" i="1">
                <a:latin typeface="Times New Roman"/>
                <a:cs typeface="Times New Roman"/>
              </a:rPr>
              <a:t>Fire Emblem: Blazing Sword, Intelligent Systems / Nintendo</a:t>
            </a:r>
            <a:endParaRPr lang="en-US" sz="4000">
              <a:latin typeface="Times New Roman"/>
              <a:cs typeface="Times New Roman"/>
            </a:endParaRPr>
          </a:p>
          <a:p>
            <a:pPr>
              <a:buNone/>
            </a:pPr>
            <a:r>
              <a:rPr lang="en-US" sz="4000" i="1">
                <a:latin typeface="Times New Roman"/>
                <a:cs typeface="Times New Roman"/>
              </a:rPr>
              <a:t>Elden Ring, FromSoftware</a:t>
            </a:r>
            <a:endParaRPr lang="en-US" sz="4000">
              <a:latin typeface="Times New Roman"/>
              <a:cs typeface="Times New Roman"/>
            </a:endParaRPr>
          </a:p>
          <a:p>
            <a:pPr>
              <a:buNone/>
            </a:pPr>
            <a:r>
              <a:rPr lang="en-US" sz="4000" i="1">
                <a:latin typeface="Times New Roman"/>
                <a:cs typeface="Times New Roman"/>
              </a:rPr>
              <a:t>Castlevania: Symphony of the Night, Konami</a:t>
            </a:r>
            <a:endParaRPr lang="en-US" sz="4000">
              <a:latin typeface="Times New Roman"/>
              <a:cs typeface="Times New Roman"/>
            </a:endParaRPr>
          </a:p>
          <a:p>
            <a:pPr>
              <a:buNone/>
            </a:pPr>
            <a:r>
              <a:rPr lang="en-US" sz="4000" i="1">
                <a:latin typeface="Times New Roman"/>
                <a:cs typeface="Times New Roman"/>
              </a:rPr>
              <a:t>Skyrim, Bethesda Game Studios</a:t>
            </a:r>
            <a:endParaRPr lang="en-US" sz="4000">
              <a:latin typeface="Times New Roman"/>
              <a:cs typeface="Times New Roman"/>
            </a:endParaRPr>
          </a:p>
          <a:p>
            <a:pPr marL="0" indent="0">
              <a:buNone/>
            </a:pPr>
            <a:endParaRPr lang="en-US"/>
          </a:p>
          <a:p>
            <a:pPr>
              <a:buFont typeface="Calibri" panose="020B0604020202020204" pitchFamily="34" charset="0"/>
              <a:buChar char="-"/>
            </a:pPr>
            <a:endParaRPr lang="en-US"/>
          </a:p>
          <a:p>
            <a:pPr marL="0" indent="0" algn="ctr">
              <a:buNone/>
            </a:pPr>
            <a:r>
              <a:rPr lang="en-US"/>
              <a:t> </a:t>
            </a:r>
          </a:p>
        </p:txBody>
      </p:sp>
      <p:sp>
        <p:nvSpPr>
          <p:cNvPr id="7" name="Content Placeholder 2">
            <a:extLst>
              <a:ext uri="{FF2B5EF4-FFF2-40B4-BE49-F238E27FC236}">
                <a16:creationId xmlns:a16="http://schemas.microsoft.com/office/drawing/2014/main" id="{D23656C6-F6FB-A681-696E-22A41E4F3D58}"/>
              </a:ext>
            </a:extLst>
          </p:cNvPr>
          <p:cNvSpPr txBox="1">
            <a:spLocks/>
          </p:cNvSpPr>
          <p:nvPr/>
        </p:nvSpPr>
        <p:spPr>
          <a:xfrm>
            <a:off x="6097494" y="1927679"/>
            <a:ext cx="5679354" cy="5023077"/>
          </a:xfrm>
          <a:prstGeom prst="rect">
            <a:avLst/>
          </a:prstGeom>
        </p:spPr>
        <p:txBody>
          <a:bodyPr vert="horz" lIns="91440" tIns="45720" rIns="91440" bIns="45720" rtlCol="0" anchor="t">
            <a:normAutofit fontScale="32500" lnSpcReduction="20000"/>
          </a:bodyPr>
          <a:lst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uNone/>
            </a:pPr>
            <a:r>
              <a:rPr lang="en-US" sz="4000" i="1">
                <a:latin typeface="Times New Roman"/>
                <a:cs typeface="Times New Roman"/>
              </a:rPr>
              <a:t>Tutorials Used</a:t>
            </a:r>
          </a:p>
          <a:p>
            <a:pPr algn="ctr">
              <a:buNone/>
            </a:pPr>
            <a:endParaRPr lang="en-US" sz="4000" i="1">
              <a:latin typeface="Times New Roman"/>
              <a:ea typeface="+mn-lt"/>
              <a:cs typeface="Times New Roman"/>
            </a:endParaRPr>
          </a:p>
          <a:p>
            <a:pPr>
              <a:buNone/>
            </a:pPr>
            <a:r>
              <a:rPr lang="en-US" sz="4000">
                <a:ea typeface="+mn-lt"/>
                <a:cs typeface="+mn-lt"/>
              </a:rPr>
              <a:t>Alexander, Mark. “Setting up and Using Source Control.” </a:t>
            </a:r>
            <a:r>
              <a:rPr lang="en-US" sz="4000" i="1" err="1">
                <a:ea typeface="+mn-lt"/>
                <a:cs typeface="+mn-lt"/>
              </a:rPr>
              <a:t>GameMaker</a:t>
            </a:r>
            <a:r>
              <a:rPr lang="en-US" sz="4000" i="1">
                <a:ea typeface="+mn-lt"/>
                <a:cs typeface="+mn-lt"/>
              </a:rPr>
              <a:t> Blog RSS</a:t>
            </a:r>
            <a:r>
              <a:rPr lang="en-US" sz="4000">
                <a:ea typeface="+mn-lt"/>
                <a:cs typeface="+mn-lt"/>
              </a:rPr>
              <a:t>, 14 Apr. 2026, </a:t>
            </a:r>
            <a:r>
              <a:rPr lang="en-US" sz="4000">
                <a:ea typeface="+mn-lt"/>
                <a:cs typeface="+mn-lt"/>
                <a:hlinkClick r:id="rId2"/>
              </a:rPr>
              <a:t>https://gamemaker.io/en/help/articles/setting-up-and-using-source-control</a:t>
            </a:r>
            <a:endParaRPr lang="en-US"/>
          </a:p>
          <a:p>
            <a:pPr>
              <a:buNone/>
            </a:pPr>
            <a:endParaRPr lang="en-US" sz="4000">
              <a:ea typeface="+mn-lt"/>
              <a:cs typeface="+mn-lt"/>
            </a:endParaRPr>
          </a:p>
          <a:p>
            <a:pPr>
              <a:buNone/>
            </a:pPr>
            <a:r>
              <a:rPr lang="en-US" sz="4000">
                <a:ea typeface="+mn-lt"/>
                <a:cs typeface="+mn-lt"/>
              </a:rPr>
              <a:t>Emil Ludvigsen. “The Easiest Way to Make 8Bit Music in FL Studio .” </a:t>
            </a:r>
            <a:r>
              <a:rPr lang="en-US" sz="4000" i="1">
                <a:ea typeface="+mn-lt"/>
                <a:cs typeface="+mn-lt"/>
              </a:rPr>
              <a:t>YouTube</a:t>
            </a:r>
            <a:r>
              <a:rPr lang="en-US" sz="4000">
                <a:ea typeface="+mn-lt"/>
                <a:cs typeface="+mn-lt"/>
              </a:rPr>
              <a:t>, 5 Dec. 2024, </a:t>
            </a:r>
            <a:r>
              <a:rPr lang="en-US" sz="4000">
                <a:ea typeface="+mn-lt"/>
                <a:cs typeface="+mn-lt"/>
                <a:hlinkClick r:id="rId3"/>
              </a:rPr>
              <a:t>http://youtu.be/PciO75NAhtA?si=CoKqmjYBIBLBz_px</a:t>
            </a:r>
            <a:endParaRPr lang="en-US" sz="4000"/>
          </a:p>
          <a:p>
            <a:pPr>
              <a:buNone/>
            </a:pPr>
            <a:endParaRPr lang="en-US" sz="4000">
              <a:ea typeface="+mn-lt"/>
              <a:cs typeface="+mn-lt"/>
            </a:endParaRPr>
          </a:p>
          <a:p>
            <a:pPr>
              <a:buNone/>
            </a:pPr>
            <a:r>
              <a:rPr lang="en-US" sz="4000" err="1">
                <a:ea typeface="+mn-lt"/>
                <a:cs typeface="+mn-lt"/>
              </a:rPr>
              <a:t>Matharoo</a:t>
            </a:r>
            <a:r>
              <a:rPr lang="en-US" sz="4000">
                <a:ea typeface="+mn-lt"/>
                <a:cs typeface="+mn-lt"/>
              </a:rPr>
              <a:t>, Gurpreet. “Make Your Own Role-Playing Game.” </a:t>
            </a:r>
            <a:r>
              <a:rPr lang="en-US" sz="4000" i="1" err="1">
                <a:ea typeface="+mn-lt"/>
                <a:cs typeface="+mn-lt"/>
              </a:rPr>
              <a:t>GameMaker</a:t>
            </a:r>
            <a:r>
              <a:rPr lang="en-US" sz="4000" i="1">
                <a:ea typeface="+mn-lt"/>
                <a:cs typeface="+mn-lt"/>
              </a:rPr>
              <a:t> Blog RSS</a:t>
            </a:r>
            <a:r>
              <a:rPr lang="en-US" sz="4000">
                <a:ea typeface="+mn-lt"/>
                <a:cs typeface="+mn-lt"/>
              </a:rPr>
              <a:t>, 3 Jan. 2025, </a:t>
            </a:r>
            <a:r>
              <a:rPr lang="en-US" sz="4000">
                <a:ea typeface="+mn-lt"/>
                <a:cs typeface="+mn-lt"/>
                <a:hlinkClick r:id="rId4"/>
              </a:rPr>
              <a:t>https://gamemaker.io/en/tutorials/how-to-make-an-rpg</a:t>
            </a:r>
            <a:endParaRPr lang="en-US"/>
          </a:p>
          <a:p>
            <a:pPr>
              <a:buNone/>
            </a:pPr>
            <a:endParaRPr lang="en-US" sz="4000"/>
          </a:p>
          <a:p>
            <a:pPr marL="0" indent="0">
              <a:buNone/>
            </a:pPr>
            <a:endParaRPr lang="en-US"/>
          </a:p>
          <a:p>
            <a:pPr>
              <a:buFont typeface="Calibri" panose="020B0604020202020204" pitchFamily="34" charset="0"/>
              <a:buChar char="-"/>
            </a:pPr>
            <a:endParaRPr lang="en-US"/>
          </a:p>
          <a:p>
            <a:pPr marL="0" indent="0" algn="ctr">
              <a:buFont typeface="Arial" panose="020B0604020202020204" pitchFamily="34" charset="0"/>
              <a:buNone/>
            </a:pPr>
            <a:r>
              <a:rPr lang="en-US"/>
              <a:t> </a:t>
            </a:r>
          </a:p>
        </p:txBody>
      </p:sp>
    </p:spTree>
    <p:extLst>
      <p:ext uri="{BB962C8B-B14F-4D97-AF65-F5344CB8AC3E}">
        <p14:creationId xmlns:p14="http://schemas.microsoft.com/office/powerpoint/2010/main" val="1664566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41C824-6D18-74D7-A6B4-80A193A23FC4}"/>
              </a:ext>
            </a:extLst>
          </p:cNvPr>
          <p:cNvSpPr/>
          <p:nvPr/>
        </p:nvSpPr>
        <p:spPr>
          <a:xfrm>
            <a:off x="0" y="-2721"/>
            <a:ext cx="12197442" cy="6874327"/>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05C952C-C38B-16A3-0EE7-8D15D0D63598}"/>
              </a:ext>
            </a:extLst>
          </p:cNvPr>
          <p:cNvSpPr>
            <a:spLocks noGrp="1"/>
          </p:cNvSpPr>
          <p:nvPr>
            <p:ph idx="1"/>
          </p:nvPr>
        </p:nvSpPr>
        <p:spPr>
          <a:xfrm>
            <a:off x="-1330349" y="-161116"/>
            <a:ext cx="14852697" cy="7575067"/>
          </a:xfrm>
        </p:spPr>
        <p:txBody>
          <a:bodyPr vert="horz" lIns="91440" tIns="45720" rIns="91440" bIns="45720" rtlCol="0" anchor="t">
            <a:normAutofit lnSpcReduction="10000"/>
          </a:bodyPr>
          <a:lstStyle/>
          <a:p>
            <a:pPr marL="0" indent="0" algn="ctr">
              <a:buNone/>
            </a:pPr>
            <a:r>
              <a:rPr lang="en-US" b="1">
                <a:solidFill>
                  <a:srgbClr val="FF0000"/>
                </a:solidFill>
                <a:latin typeface="Viner Hand ITC"/>
              </a:rPr>
              <a:t>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BUY OUR VIDEOGAME </a:t>
            </a:r>
          </a:p>
        </p:txBody>
      </p:sp>
    </p:spTree>
    <p:extLst>
      <p:ext uri="{BB962C8B-B14F-4D97-AF65-F5344CB8AC3E}">
        <p14:creationId xmlns:p14="http://schemas.microsoft.com/office/powerpoint/2010/main" val="25646671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FA823E-65DF-8CF9-B778-0CBA0F976F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96FE44-581F-55F0-A24E-4FA44DD28DFF}"/>
              </a:ext>
            </a:extLst>
          </p:cNvPr>
          <p:cNvSpPr>
            <a:spLocks noGrp="1"/>
          </p:cNvSpPr>
          <p:nvPr>
            <p:ph type="title"/>
          </p:nvPr>
        </p:nvSpPr>
        <p:spPr/>
        <p:txBody>
          <a:bodyPr>
            <a:normAutofit/>
          </a:bodyPr>
          <a:lstStyle/>
          <a:p>
            <a:pPr algn="ctr"/>
            <a:r>
              <a:rPr lang="en-US" sz="6000">
                <a:cs typeface="Sabon Next LT"/>
              </a:rPr>
              <a:t>Q and A</a:t>
            </a:r>
          </a:p>
        </p:txBody>
      </p:sp>
      <p:pic>
        <p:nvPicPr>
          <p:cNvPr id="1026" name="Picture 2" descr="Shark Tank Statistics: The Truth Behind the Show's Deals">
            <a:extLst>
              <a:ext uri="{FF2B5EF4-FFF2-40B4-BE49-F238E27FC236}">
                <a16:creationId xmlns:a16="http://schemas.microsoft.com/office/drawing/2014/main" id="{D813285A-4BA2-1290-1E55-439249C050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4377" y="1783080"/>
            <a:ext cx="7063740" cy="4709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105609"/>
      </p:ext>
    </p:extLst>
  </p:cSld>
  <p:clrMapOvr>
    <a:masterClrMapping/>
  </p:clrMapOvr>
</p:sld>
</file>

<file path=ppt/theme/theme1.xml><?xml version="1.0" encoding="utf-8"?>
<a:theme xmlns:a="http://schemas.openxmlformats.org/drawingml/2006/main" name="DappledVTI">
  <a:themeElements>
    <a:clrScheme name="Custom 81">
      <a:dk1>
        <a:sysClr val="windowText" lastClr="000000"/>
      </a:dk1>
      <a:lt1>
        <a:sysClr val="window" lastClr="FFFFFF"/>
      </a:lt1>
      <a:dk2>
        <a:srgbClr val="21363B"/>
      </a:dk2>
      <a:lt2>
        <a:srgbClr val="F4F2F0"/>
      </a:lt2>
      <a:accent1>
        <a:srgbClr val="758468"/>
      </a:accent1>
      <a:accent2>
        <a:srgbClr val="B5A7AC"/>
      </a:accent2>
      <a:accent3>
        <a:srgbClr val="CC9C6F"/>
      </a:accent3>
      <a:accent4>
        <a:srgbClr val="767640"/>
      </a:accent4>
      <a:accent5>
        <a:srgbClr val="A5B295"/>
      </a:accent5>
      <a:accent6>
        <a:srgbClr val="C19DA7"/>
      </a:accent6>
      <a:hlink>
        <a:srgbClr val="D13D6E"/>
      </a:hlink>
      <a:folHlink>
        <a:srgbClr val="6C9D92"/>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VTI" id="{204FEFAB-F02B-4FE8-B509-C50A618B972D}" vid="{7EAEADA8-5A8E-45B2-B0E4-448EC7E7A94F}"/>
    </a:ext>
  </a:extLst>
</a:theme>
</file>

<file path=docProps/app.xml><?xml version="1.0" encoding="utf-8"?>
<Properties xmlns="http://schemas.openxmlformats.org/officeDocument/2006/extended-properties" xmlns:vt="http://schemas.openxmlformats.org/officeDocument/2006/docPropsVTypes">
  <Template>office theme</Template>
  <TotalTime>0</TotalTime>
  <Words>622</Words>
  <Application>Microsoft Office PowerPoint</Application>
  <PresentationFormat>Widescreen</PresentationFormat>
  <Paragraphs>86</Paragraphs>
  <Slides>14</Slides>
  <Notes>0</Notes>
  <HiddenSlides>0</HiddenSlides>
  <MMClips>1</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Avenir Next LT Pro</vt:lpstr>
      <vt:lpstr>AvenirNext LT Pro Medium</vt:lpstr>
      <vt:lpstr>Calibri</vt:lpstr>
      <vt:lpstr>Courier New</vt:lpstr>
      <vt:lpstr>Sabon Next LT</vt:lpstr>
      <vt:lpstr>Times New Roman</vt:lpstr>
      <vt:lpstr>Viner Hand ITC</vt:lpstr>
      <vt:lpstr>DappledVTI</vt:lpstr>
      <vt:lpstr>Sift/Shift</vt:lpstr>
      <vt:lpstr>Factory Games</vt:lpstr>
      <vt:lpstr>Here is our solution: Sift-Shift</vt:lpstr>
      <vt:lpstr>Why should you consider our product?</vt:lpstr>
      <vt:lpstr>Game Features</vt:lpstr>
      <vt:lpstr>Art Direction</vt:lpstr>
      <vt:lpstr>UI &amp; Menu Direction</vt:lpstr>
      <vt:lpstr>Maps, Merging, &amp; Implementation </vt:lpstr>
      <vt:lpstr>Demo</vt:lpstr>
      <vt:lpstr>Plans for future implementations</vt:lpstr>
      <vt:lpstr>Conclusion</vt:lpstr>
      <vt:lpstr>References</vt:lpstr>
      <vt:lpstr>PowerPoint Presentation</vt:lpstr>
      <vt:lpstr>Q and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Beren, Jake</cp:lastModifiedBy>
  <cp:revision>2</cp:revision>
  <dcterms:created xsi:type="dcterms:W3CDTF">2026-04-21T20:06:00Z</dcterms:created>
  <dcterms:modified xsi:type="dcterms:W3CDTF">2026-05-05T02:34:11Z</dcterms:modified>
</cp:coreProperties>
</file>